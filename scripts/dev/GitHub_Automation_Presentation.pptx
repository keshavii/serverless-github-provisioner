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CC"/>
                </a:solidFill>
              </a:defRPr>
            </a:pPr>
            <a:r>
              <a:t>GitHub Repository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From 30 Minutes to 90 Seconds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Manual Repository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Process: 13 Manual Steps</a:t>
            </a:r>
          </a:p>
          <a:p>
            <a:pPr>
              <a:defRPr sz="2000"/>
            </a:pPr>
            <a:r>
              <a:t>TIME: 30-45 min/repo</a:t>
            </a:r>
          </a:p>
          <a:p>
            <a:pPr>
              <a:defRPr sz="2000"/>
            </a:pPr>
            <a:r>
              <a:t>CAPACITY: 20 repos/day</a:t>
            </a:r>
          </a:p>
          <a:p>
            <a:pPr>
              <a:defRPr sz="2000"/>
            </a:pPr>
            <a:r>
              <a:t>ERROR RATE: 10-20%</a:t>
            </a:r>
          </a:p>
          <a:p>
            <a:pPr>
              <a:defRPr sz="2000"/>
            </a:pPr>
            <a:r>
              <a:t>COST: $36,000/year</a:t>
            </a:r>
          </a:p>
          <a:p>
            <a:pPr>
              <a:defRPr sz="2000"/>
            </a:pPr>
            <a:r>
              <a:t>BOTTLENECK: 2-week backlog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Pain Quantified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Impact:</a:t>
            </a:r>
          </a:p>
          <a:p>
            <a:pPr>
              <a:defRPr sz="1800"/>
            </a:pPr>
            <a:r>
              <a:t>480 hours/year = 3 MONTHS</a:t>
            </a:r>
          </a:p>
          <a:p>
            <a:pPr>
              <a:defRPr sz="1800"/>
            </a:pPr>
            <a:r>
              <a:t>Labor: $36,000/year</a:t>
            </a:r>
          </a:p>
          <a:p>
            <a:pPr>
              <a:defRPr sz="1800"/>
            </a:pPr>
            <a:r>
              <a:t>Errors: $5,000/year</a:t>
            </a:r>
          </a:p>
          <a:p>
            <a:pPr>
              <a:defRPr sz="1800"/>
            </a:pPr>
            <a:r>
              <a:t>Total: $41,000/year burned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Serverless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0B050"/>
                </a:solidFill>
              </a:defRPr>
            </a:pPr>
            <a:r>
              <a:t>AUTOMATED: 1 STEP</a:t>
            </a:r>
          </a:p>
          <a:p>
            <a:pPr>
              <a:defRPr sz="1800"/>
            </a:pPr>
            <a:r>
              <a:t>1. Developer creates JIRA ticket</a:t>
            </a:r>
          </a:p>
          <a:p>
            <a:pPr algn="ctr">
              <a:defRPr i="1"/>
            </a:pPr>
            <a:r>
              <a:t>↓ 90 seconds ↓</a:t>
            </a:r>
          </a:p>
          <a:p>
            <a:pPr>
              <a:defRPr sz="1800"/>
            </a:pPr>
            <a:r>
              <a:t>Repo created</a:t>
            </a:r>
          </a:p>
          <a:p>
            <a:pPr>
              <a:defRPr sz="1800"/>
            </a:pPr>
            <a:r>
              <a:t>JIRA updated</a:t>
            </a:r>
          </a:p>
          <a:p>
            <a:pPr>
              <a:defRPr sz="1800"/>
            </a:pPr>
            <a:r>
              <a:t>Ticket closed</a:t>
            </a:r>
          </a:p>
          <a:p>
            <a:pPr>
              <a:defRPr sz="1800"/>
            </a:pPr>
            <a:r>
              <a:t>Dev notified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Serverless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</a:t>
            </a:r>
          </a:p>
          <a:p>
            <a:pPr>
              <a:defRPr sz="1600"/>
            </a:pPr>
            <a:r>
              <a:t>JIRA → Lambda → SQS → Lambda → GitHub</a:t>
            </a:r>
          </a:p>
          <a:p>
            <a:pPr>
              <a:defRPr sz="1600"/>
            </a:pPr>
            <a:r>
              <a:t>Failure → DLQ → Alert</a:t>
            </a:r>
          </a:p>
          <a:p>
            <a:pPr>
              <a:defRPr sz="1600"/>
            </a:pPr>
            <a:r>
              <a:t>Supporting: Secrets Manager,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AWS: Lambda, SQS, Secrets Manager</a:t>
            </a:r>
          </a:p>
          <a:p>
            <a:pPr>
              <a:defRPr sz="1800"/>
            </a:pPr>
            <a:r>
              <a:t>Python 3.11</a:t>
            </a:r>
          </a:p>
          <a:p>
            <a:pPr>
              <a:defRPr sz="1800"/>
            </a:pPr>
            <a:r>
              <a:t>PyGithub 2.1.1</a:t>
            </a:r>
          </a:p>
          <a:p>
            <a:pPr>
              <a:defRPr sz="1800"/>
            </a:pPr>
            <a:r>
              <a:t>Pydantic validation</a:t>
            </a:r>
          </a:p>
          <a:p>
            <a:pPr>
              <a:defRPr sz="1800"/>
            </a:pPr>
            <a:r>
              <a:t>Terraform IaC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3 automatic retries</a:t>
            </a:r>
          </a:p>
          <a:p>
            <a:pPr>
              <a:defRPr sz="2000"/>
            </a:pPr>
            <a:r>
              <a:t>Idempotent operations</a:t>
            </a:r>
          </a:p>
          <a:p>
            <a:pPr>
              <a:defRPr sz="2000"/>
            </a:pPr>
            <a:r>
              <a:t>GitHub App auth</a:t>
            </a:r>
          </a:p>
          <a:p>
            <a:pPr>
              <a:defRPr sz="2000"/>
            </a:pPr>
            <a:r>
              <a:t>Encrypted secrets</a:t>
            </a:r>
          </a:p>
          <a:p>
            <a:pPr>
              <a:defRPr sz="2000"/>
            </a:pPr>
            <a:r>
              <a:t>Full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 b="1"/>
            </a:pPr>
            <a:r>
              <a:t>95% REDUCTION</a:t>
            </a:r>
          </a:p>
          <a:p>
            <a:pPr>
              <a:defRPr sz="2200"/>
            </a:pPr>
            <a:r>
              <a:t>Manual: 30 min</a:t>
            </a:r>
          </a:p>
          <a:p>
            <a:pPr>
              <a:defRPr sz="2200"/>
            </a:pPr>
            <a:r>
              <a:t>Automated: 90 sec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480 hours/year saved</a:t>
            </a:r>
          </a:p>
          <a:p>
            <a:pPr>
              <a:defRPr sz="2200"/>
            </a:pPr>
            <a:r>
              <a:t>= 60 work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Savings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MANUAL: $41,000/year</a:t>
            </a:r>
          </a:p>
          <a:p>
            <a:pPr>
              <a:defRPr sz="2000"/>
            </a:pPr>
            <a:r>
              <a:t>AUTOMATED: $29/year</a:t>
            </a:r>
          </a:p>
          <a:p>
            <a:pPr>
              <a:defRPr sz="2000"/>
            </a:pPr>
            <a:r>
              <a:t>Net savings: $40,971/year</a:t>
            </a:r>
          </a:p>
          <a:p>
            <a:pPr>
              <a:defRPr sz="2000"/>
            </a:pPr>
            <a:r>
              <a:t>ROI: 141,000%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Human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Wrong visibility: 10% → 0%</a:t>
            </a:r>
          </a:p>
          <a:p>
            <a:pPr>
              <a:defRPr sz="2000"/>
            </a:pPr>
            <a:r>
              <a:t>Missing metadata: 20% → 0%</a:t>
            </a:r>
          </a:p>
          <a:p>
            <a:pPr>
              <a:defRPr sz="2000"/>
            </a:pPr>
            <a:r>
              <a:t>Typos: 10% → 0%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100%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to Scale 10x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TODAY: 60 repos → $2/month</a:t>
            </a:r>
          </a:p>
          <a:p>
            <a:pPr>
              <a:defRPr sz="1800"/>
            </a:pPr>
            <a:r>
              <a:t>6 MONTHS: 200 repos → $2/month</a:t>
            </a:r>
          </a:p>
          <a:p>
            <a:pPr>
              <a:defRPr sz="1800"/>
            </a:pPr>
            <a:r>
              <a:t>1 YEAR: 500 repos → $3/month</a:t>
            </a:r>
          </a:p>
          <a:p>
            <a:pPr>
              <a:defRPr sz="1800"/>
            </a:pPr>
            <a:r>
              <a:t>10x: 6,000 repos → $10/month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Manual at 500: Need 5 engineers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vs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Time: 30 min vs 90 sec ✅</a:t>
            </a:r>
          </a:p>
          <a:p>
            <a:pPr>
              <a:defRPr sz="1800"/>
            </a:pPr>
            <a:r>
              <a:t>Capacity: 60 vs Unlimited ✅</a:t>
            </a:r>
          </a:p>
          <a:p>
            <a:pPr>
              <a:defRPr sz="1800"/>
            </a:pPr>
            <a:r>
              <a:t>Errors: 10-20% vs 0% ✅</a:t>
            </a:r>
          </a:p>
          <a:p>
            <a:pPr>
              <a:defRPr sz="1800"/>
            </a:pPr>
            <a:r>
              <a:t>Cost: $3,000 vs $2 ✅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WINNER: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✅ Code quality</a:t>
            </a:r>
          </a:p>
          <a:p>
            <a:pPr>
              <a:defRPr sz="2000"/>
            </a:pPr>
            <a:r>
              <a:t>✅ Infrastructure (Terraform)</a:t>
            </a:r>
          </a:p>
          <a:p>
            <a:pPr>
              <a:defRPr sz="2000"/>
            </a:pPr>
            <a:r>
              <a:t>✅ Security (encrypted)</a:t>
            </a:r>
          </a:p>
          <a:p>
            <a:pPr>
              <a:defRPr sz="2000"/>
            </a:pPr>
            <a:r>
              <a:t>✅ Observability (CloudWatch)</a:t>
            </a:r>
          </a:p>
          <a:p>
            <a:pPr>
              <a:defRPr sz="2000"/>
            </a:pPr>
            <a:r>
              <a:t>✅ 25+ test repos created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4-Week Rollout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WEEK 1: Test ✅</a:t>
            </a:r>
          </a:p>
          <a:p>
            <a:pPr>
              <a:defRPr sz="1800"/>
            </a:pPr>
            <a:r>
              <a:t>WEEK 2: Parallel testing</a:t>
            </a:r>
          </a:p>
          <a:p>
            <a:pPr>
              <a:defRPr sz="1800"/>
            </a:pPr>
            <a:r>
              <a:t>WEEK 3: Production deployment</a:t>
            </a:r>
          </a:p>
          <a:p>
            <a:pPr>
              <a:defRPr sz="1800"/>
            </a:pPr>
            <a:r>
              <a:t>WEEK 4: Stabilization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00B050"/>
                </a:solidFill>
              </a:defRPr>
            </a:pPr>
            <a:r>
              <a:t>APPROVE PRODUCTION DEPLOYMENT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$41,000/year savings</a:t>
            </a:r>
          </a:p>
          <a:p>
            <a:pPr>
              <a:defRPr sz="2000"/>
            </a:pPr>
            <a:r>
              <a:t>480 hours/year freed</a:t>
            </a:r>
          </a:p>
          <a:p>
            <a:pPr>
              <a:defRPr sz="2000"/>
            </a:pPr>
            <a:r>
              <a:t>0% error rate</a:t>
            </a:r>
          </a:p>
          <a:p>
            <a:pPr>
              <a:defRPr sz="2000"/>
            </a:pPr>
            <a:r>
              <a:t>Production ready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